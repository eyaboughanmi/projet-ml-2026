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R² (plus haut = mieux)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C72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B62-4448-8070-684B85DAE9D1}"/>
              </c:ext>
            </c:extLst>
          </c:dPt>
          <c:dPt>
            <c:idx val="1"/>
            <c:invertIfNegative val="0"/>
            <c:bubble3D val="0"/>
            <c:spPr>
              <a:solidFill>
                <a:srgbClr val="DD84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62-4448-8070-684B85DAE9D1}"/>
              </c:ext>
            </c:extLst>
          </c:dPt>
          <c:dPt>
            <c:idx val="2"/>
            <c:invertIfNegative val="0"/>
            <c:bubble3D val="0"/>
            <c:spPr>
              <a:solidFill>
                <a:srgbClr val="55A8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62-4448-8070-684B85DAE9D1}"/>
              </c:ext>
            </c:extLst>
          </c:dPt>
          <c:dPt>
            <c:idx val="3"/>
            <c:invertIfNegative val="0"/>
            <c:bubble3D val="0"/>
            <c:spPr>
              <a:solidFill>
                <a:srgbClr val="C44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62-4448-8070-684B85DAE9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Régr. Linéaire</c:v>
                </c:pt>
                <c:pt idx="1">
                  <c:v>Random Forest</c:v>
                </c:pt>
                <c:pt idx="2">
                  <c:v>Grad. Boosting</c:v>
                </c:pt>
                <c:pt idx="3">
                  <c:v>Réseau Neurones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0.87</c:v>
                </c:pt>
                <c:pt idx="2">
                  <c:v>0.88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62-4448-8070-684B85DAE9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MAE en k$ (plus bas = mieux)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(k$)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C72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F25-4A02-B3AE-67E980B60CEA}"/>
              </c:ext>
            </c:extLst>
          </c:dPt>
          <c:dPt>
            <c:idx val="1"/>
            <c:invertIfNegative val="0"/>
            <c:bubble3D val="0"/>
            <c:spPr>
              <a:solidFill>
                <a:srgbClr val="DD84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25-4A02-B3AE-67E980B60CEA}"/>
              </c:ext>
            </c:extLst>
          </c:dPt>
          <c:dPt>
            <c:idx val="2"/>
            <c:invertIfNegative val="0"/>
            <c:bubble3D val="0"/>
            <c:spPr>
              <a:solidFill>
                <a:srgbClr val="55A8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F25-4A02-B3AE-67E980B60CEA}"/>
              </c:ext>
            </c:extLst>
          </c:dPt>
          <c:dPt>
            <c:idx val="3"/>
            <c:invertIfNegative val="0"/>
            <c:bubble3D val="0"/>
            <c:spPr>
              <a:solidFill>
                <a:srgbClr val="C44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F25-4A02-B3AE-67E980B60C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Régr. Linéaire</c:v>
                </c:pt>
                <c:pt idx="1">
                  <c:v>Random Forest</c:v>
                </c:pt>
                <c:pt idx="2">
                  <c:v>Grad. Boosting</c:v>
                </c:pt>
                <c:pt idx="3">
                  <c:v>Réseau Neurones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117</c:v>
                </c:pt>
                <c:pt idx="1">
                  <c:v>73</c:v>
                </c:pt>
                <c:pt idx="2">
                  <c:v>72</c:v>
                </c:pt>
                <c:pt idx="3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25-4A02-B3AE-67E980B60C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Importance des variables (Random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sqft_lot</c:v>
                </c:pt>
                <c:pt idx="1">
                  <c:v>renovated</c:v>
                </c:pt>
                <c:pt idx="2">
                  <c:v>bedrooms</c:v>
                </c:pt>
                <c:pt idx="3">
                  <c:v>floors</c:v>
                </c:pt>
                <c:pt idx="4">
                  <c:v>condition</c:v>
                </c:pt>
                <c:pt idx="5">
                  <c:v>view</c:v>
                </c:pt>
                <c:pt idx="6">
                  <c:v>age</c:v>
                </c:pt>
                <c:pt idx="7">
                  <c:v>bathrooms</c:v>
                </c:pt>
                <c:pt idx="8">
                  <c:v>sqft_basement</c:v>
                </c:pt>
                <c:pt idx="9">
                  <c:v>sqft_above</c:v>
                </c:pt>
                <c:pt idx="10">
                  <c:v>sqft_living</c:v>
                </c:pt>
                <c:pt idx="11">
                  <c:v>lat</c:v>
                </c:pt>
                <c:pt idx="12">
                  <c:v>grade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0.03</c:v>
                </c:pt>
                <c:pt idx="7">
                  <c:v>0.03</c:v>
                </c:pt>
                <c:pt idx="8">
                  <c:v>0.04</c:v>
                </c:pt>
                <c:pt idx="9">
                  <c:v>0.06</c:v>
                </c:pt>
                <c:pt idx="10">
                  <c:v>0.14000000000000001</c:v>
                </c:pt>
                <c:pt idx="11">
                  <c:v>0.18</c:v>
                </c:pt>
                <c:pt idx="1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B1-49D1-A6EE-17246B19E1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01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DD3F-6210-D93D-1D86-EAF8DB32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6B3FB-9677-1211-5B82-E681EA3D3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42655-67A4-66AF-3400-0DCB2BC53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3E359-8653-3460-11A9-7D13DDAF2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36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72B38-8084-63E2-CD60-1BBB82F7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D96655-2C81-A6BA-2E4A-6FC78D9E367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B5ED4A6-54CC-1799-9AB6-31D1EF83165F}"/>
              </a:ext>
            </a:extLst>
          </p:cNvPr>
          <p:cNvSpPr/>
          <p:nvPr/>
        </p:nvSpPr>
        <p:spPr>
          <a:xfrm>
            <a:off x="548640" y="137160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Immobilière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 Intelligence Artificielle</a:t>
            </a:r>
            <a:endParaRPr lang="en-US" sz="34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5C8AA64-0178-AD5C-DF80-3BA536F8F581}"/>
              </a:ext>
            </a:extLst>
          </p:cNvPr>
          <p:cNvSpPr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prix des maisons — King County, USA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4 algorithmes ML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EC89F7B-2920-D670-0852-0747A88F2BD3}"/>
              </a:ext>
            </a:extLst>
          </p:cNvPr>
          <p:cNvSpPr/>
          <p:nvPr/>
        </p:nvSpPr>
        <p:spPr>
          <a:xfrm>
            <a:off x="54864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1">
                    <a:lumMod val="75000"/>
                  </a:schemeClr>
                </a:solidFill>
              </a:rPr>
              <a:t>MINI PROJET — MACHINE LEARNING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EF839C28-B4AE-F49A-D321-49667749231E}"/>
              </a:ext>
            </a:extLst>
          </p:cNvPr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Basé sur l'article : SOUALIH Y. (2022) — African Scientific Journal</a:t>
            </a:r>
            <a:endParaRPr lang="en-US" sz="9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152159E2-B388-5C86-3010-757839D93BF4}"/>
              </a:ext>
            </a:extLst>
          </p:cNvPr>
          <p:cNvSpPr/>
          <p:nvPr/>
        </p:nvSpPr>
        <p:spPr>
          <a:xfrm>
            <a:off x="548640" y="3108960"/>
            <a:ext cx="2286000" cy="64008"/>
          </a:xfrm>
          <a:prstGeom prst="rect">
            <a:avLst/>
          </a:prstGeom>
          <a:solidFill>
            <a:srgbClr val="002060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D8404C-AECC-1291-263F-BBAEECCE5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571" y="1269885"/>
            <a:ext cx="3566158" cy="32198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48218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THÉORIQUE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3474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📄 Article de référence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SOUALIH Y. (2022)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Scientific Journal
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méthodes traditionnelles d'évaluation sont </a:t>
            </a: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subjectives et imprécises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ouvre de nouvelles possibilités via les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Valuation Models (AVM)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capables de traiter les relations non-linéaires.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914400"/>
            <a:ext cx="4389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1005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Régression Hédonique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3898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Modèle classique supposant une relation linéaire. Simple, interprétable, mais trop rigide.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2084832"/>
            <a:ext cx="4389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53712" y="2157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21762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Random Forest / Gradient Boosting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560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Ensembles d'arbres de décision capturant les non-linéarités. Très performants sur données tabulaires.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3255264"/>
            <a:ext cx="4389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3712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33467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Réseaux de Neurones (ANN)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7307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Simulent le cerveau humain via des couches cachées. Puissants mais nécessitent beaucoup de données.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CE3"/>
                </a:solidFill>
              </a:rPr>
              <a:t>Slide 2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 JEU DE DONNÉES — KC House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554480"/>
          </a:xfrm>
          <a:prstGeom prst="rect">
            <a:avLst/>
          </a:prstGeom>
          <a:solidFill>
            <a:srgbClr val="0D1B2A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0515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21 613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Maisons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2148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</a:rPr>
              <a:t>King County, Seattle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41448" y="960120"/>
            <a:ext cx="1920240" cy="1554480"/>
          </a:xfrm>
          <a:prstGeom prst="rect">
            <a:avLst/>
          </a:prstGeom>
          <a:solidFill>
            <a:srgbClr val="0D1B2A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515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21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148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</a:rPr>
              <a:t>par maison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960120"/>
            <a:ext cx="1920240" cy="1554480"/>
          </a:xfrm>
          <a:prstGeom prst="rect">
            <a:avLst/>
          </a:prstGeom>
          <a:solidFill>
            <a:srgbClr val="0D1B2A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10515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81728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Valeurs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Manquantes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1728" y="2148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</a:rPr>
              <a:t>dataset propre 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960120"/>
            <a:ext cx="1920240" cy="1554480"/>
          </a:xfrm>
          <a:prstGeom prst="rect">
            <a:avLst/>
          </a:prstGeom>
          <a:solidFill>
            <a:srgbClr val="0D1B2A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10515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$540K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48856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Prix Moyen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48856" y="2148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</a:rPr>
              <a:t>de $75K à $7.7M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6700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Variables clés utilisées pour la prédiction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512064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Importance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sqft_living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Surface habitable (m²)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Qualité du bâtiment (1-13)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lat / long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Coordonnées GPS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bedrooms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Nombre de chambres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Âge de la maison (créé)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renovated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Rénovée ? (créé)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670048"/>
            <a:ext cx="3291840" cy="2267712"/>
          </a:xfrm>
          <a:prstGeom prst="rect">
            <a:avLst/>
          </a:prstGeom>
          <a:solidFill>
            <a:srgbClr val="FFF8E1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670048"/>
            <a:ext cx="91440" cy="22677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🔧 Feature Engineering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60720" y="312724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✓ Suppression de id &amp; date
✓ Création de age = 2015 − yr_built
✓ Création de renovated (binaire)
✓ Cible : log(price) pour normaliser
  la distribution asymétrique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CE3"/>
                </a:solidFill>
              </a:rPr>
              <a:t>Slide 3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MÉTHODOLOGIE &amp; PIPELINE ML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4088" y="1005840"/>
            <a:ext cx="841248" cy="8412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0058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63624" y="1389888"/>
            <a:ext cx="502920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01168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2075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</a:rPr>
              <a:t>Chargement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39572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kc_house_data.csv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21 613 lignes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841248" cy="841248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0058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82696" y="1389888"/>
            <a:ext cx="502920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0552" y="201168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48840" y="2075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74A6"/>
                </a:solidFill>
              </a:rPr>
              <a:t>Exploration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39572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Statistiques, corrélations,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distribution des prix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42232" y="1005840"/>
            <a:ext cx="841248" cy="8412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42232" y="10058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01768" y="1389888"/>
            <a:ext cx="502920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9624" y="201168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67912" y="2075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</a:rPr>
              <a:t>Nettoyage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67912" y="239572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Feature engineering,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suppression colonnes inutiles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61304" y="1005840"/>
            <a:ext cx="841248" cy="8412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61304" y="10058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502920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68696" y="201168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86984" y="2075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Séparation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86984" y="239572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80% train / 20% 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random_state = 42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80376" y="1005840"/>
            <a:ext cx="841248" cy="8412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0376" y="10058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287768" y="2011680"/>
            <a:ext cx="1463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06056" y="20756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44AD"/>
                </a:solidFill>
              </a:rPr>
              <a:t>Normalisation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06056" y="239572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StandardScaler pour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</a:rPr>
              <a:t>LR et MLP uniquement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Les 4 modèles comparés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74320" y="3547872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47872"/>
            <a:ext cx="1965960" cy="347472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Régression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Linéaire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" y="393192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C7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" y="431596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Baseline simple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Scaled data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41448" y="3547872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41448" y="3547872"/>
            <a:ext cx="1965960" cy="347472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87168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14600" y="393192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84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14600" y="431596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100 arbres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Données brutes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08576" y="3547872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08576" y="3547872"/>
            <a:ext cx="1965960" cy="347472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54296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Boosting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81728" y="393192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A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n_estimators=200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A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lr=0.1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681728" y="431596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200 arbres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Boost séquentiel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75704" y="3547872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75704" y="3547872"/>
            <a:ext cx="1965960" cy="347472"/>
          </a:xfrm>
          <a:prstGeom prst="rect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1424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Réseau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Neurones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48856" y="393192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4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128→64→32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48856" y="4315968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3 couches cachées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Scaled data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Slide 4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RÉSULTATS DES MODÈLES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24128"/>
            <a:ext cx="621792" cy="6217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024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dirty="0"/>
              <a:t>Coefficient of Détermination :</a:t>
            </a:r>
          </a:p>
          <a:p>
            <a:r>
              <a:rPr lang="en-US" sz="1000" dirty="0">
                <a:solidFill>
                  <a:srgbClr val="1A1A2E"/>
                </a:solidFill>
              </a:rPr>
              <a:t>Part de variance expliquée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→ Plus proche de 1 = mieux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024128"/>
            <a:ext cx="621792" cy="6217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024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5072" y="1024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dirty="0"/>
              <a:t>Mean Absolute Error </a:t>
            </a:r>
            <a:r>
              <a:rPr lang="en-US" sz="1000" b="1" dirty="0">
                <a:solidFill>
                  <a:srgbClr val="1A1A2E"/>
                </a:solidFill>
              </a:rPr>
              <a:t>: </a:t>
            </a:r>
          </a:p>
          <a:p>
            <a:r>
              <a:rPr lang="en-US" sz="1000" dirty="0" err="1">
                <a:solidFill>
                  <a:srgbClr val="1A1A2E"/>
                </a:solidFill>
              </a:rPr>
              <a:t>Erreur</a:t>
            </a:r>
            <a:r>
              <a:rPr lang="en-US" sz="1000" dirty="0">
                <a:solidFill>
                  <a:srgbClr val="1A1A2E"/>
                </a:solidFill>
              </a:rPr>
              <a:t> </a:t>
            </a:r>
            <a:r>
              <a:rPr lang="en-US" sz="1000" dirty="0" err="1">
                <a:solidFill>
                  <a:srgbClr val="1A1A2E"/>
                </a:solidFill>
              </a:rPr>
              <a:t>absolue</a:t>
            </a:r>
            <a:r>
              <a:rPr lang="en-US" sz="1000" dirty="0">
                <a:solidFill>
                  <a:srgbClr val="1A1A2E"/>
                </a:solidFill>
              </a:rPr>
              <a:t> moyenne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→ Plus bas = mieux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024128"/>
            <a:ext cx="621792" cy="6217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24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RMSE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31152" y="1024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dirty="0"/>
              <a:t>Root Mean Squared Error :</a:t>
            </a:r>
          </a:p>
          <a:p>
            <a:r>
              <a:rPr lang="en-US" sz="1000" dirty="0">
                <a:solidFill>
                  <a:srgbClr val="1A1A2E"/>
                </a:solidFill>
              </a:rPr>
              <a:t>Sensible aux grandes erreurs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→ Plus bas = mieux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9202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Tableau comparatif des performances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685800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($)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 ($)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Régression Linéaire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$117,263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$275,331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🔴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$72,690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$138,649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🟡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$72,481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$132,461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Réseau de Neurones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$97,161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$612,271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-1.48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🔴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315200" y="1920240"/>
            <a:ext cx="1600200" cy="2194560"/>
          </a:xfrm>
          <a:prstGeom prst="rect">
            <a:avLst/>
          </a:prstGeom>
          <a:solidFill>
            <a:srgbClr val="EAFAF1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0" y="1920240"/>
            <a:ext cx="16002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0" y="199339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</a:rPr>
              <a:t>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</a:rPr>
              <a:t>Meilleur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</a:rPr>
              <a:t>Modèle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28163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Gradient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Boosting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33101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</a:rPr>
              <a:t>R² = 0.88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</a:rPr>
              <a:t>MAE $72K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4206240"/>
            <a:ext cx="859536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2519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⚠️  Le Réseau de Neurones (R² = -1.48) diverge : manque de données et/ou besoin d'hyperparamètre tuning. Le modèle prédit pire que la moyenne — illustrant les risques des ANN sans fine-tuning.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CE3"/>
                </a:solidFill>
              </a:rPr>
              <a:t>Slide 5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VISUALISATIONS &amp; ANALYSES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914400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914400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182880" y="3200400"/>
          <a:ext cx="8778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Slide 6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ANALYSE &amp;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Points Forts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Gradient Boosting &amp; Random Forest excellent avec R² ≈ 0.88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grade, </a:t>
            </a:r>
            <a:r>
              <a:rPr lang="en-US" sz="1100" dirty="0" err="1">
                <a:solidFill>
                  <a:srgbClr val="1A1A2E"/>
                </a:solidFill>
              </a:rPr>
              <a:t>lat</a:t>
            </a:r>
            <a:r>
              <a:rPr lang="en-US" sz="1100" dirty="0">
                <a:solidFill>
                  <a:srgbClr val="1A1A2E"/>
                </a:solidFill>
              </a:rPr>
              <a:t>(</a:t>
            </a:r>
            <a:r>
              <a:rPr lang="fr-FR" sz="1100" dirty="0"/>
              <a:t>position géographique)</a:t>
            </a:r>
            <a:r>
              <a:rPr lang="en-US" sz="1100" dirty="0">
                <a:solidFill>
                  <a:srgbClr val="1A1A2E"/>
                </a:solidFill>
              </a:rPr>
              <a:t>, sqft_living = top 3 variables (valide la théorie)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Log-transformation stabilise efficacement la 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80/20 split + random_state=42 assure la reproductibilité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Feature engineering améliore la qualité des données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9768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Limites &amp; Pistes d'amélioration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MLP diverge (R²=-1.48) : besoin de GridSearchCV + plus de données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Données régionales uniquement (King County 2014-15) → généralisation limitée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Variables manquantes : qualité du voisinage, écoles, transports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Random Forest = boîte noire (peu interprétable pour les experts immobiliers)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Lien article : qualité des données = clé de la pertinence des AVM (</a:t>
            </a:r>
            <a:r>
              <a:rPr lang="fr-FR" sz="1100" dirty="0" err="1"/>
              <a:t>Automated</a:t>
            </a:r>
            <a:r>
              <a:rPr lang="fr-FR" sz="1100" dirty="0"/>
              <a:t> Valuation Model)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564966"/>
            <a:ext cx="8595360" cy="308786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605059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4F72"/>
                </a:solidFill>
              </a:rPr>
              <a:t>📖  Lien théorique : L'article de SOUALIH confirme que les AVM dépassent les modèles traditionnels — nos résultats (RF et GB &gt;&gt; LR) valident cette conclusion empiriquement.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CE3"/>
                </a:solidFill>
              </a:rPr>
              <a:t>Slide 7 / 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BC9C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Ce que notre étude démontre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697480" cy="2468880"/>
          </a:xfrm>
          <a:prstGeom prst="rect">
            <a:avLst/>
          </a:prstGeom>
          <a:solidFill>
            <a:srgbClr val="0D2137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2395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Les modèles ensemblistes gagnent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85292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</a:rPr>
              <a:t>Random Forest &amp; Gradient Boosting (R²≈0.88) surpassent nettement la régression linéaire (R²=0.50), confirmant l'intérêt de l'IA pour l'évaluation immobilière.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72968" y="1691640"/>
            <a:ext cx="2697480" cy="2468880"/>
          </a:xfrm>
          <a:prstGeom prst="rect">
            <a:avLst/>
          </a:prstGeom>
          <a:solidFill>
            <a:srgbClr val="0D2137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8269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82696" y="2395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La localisation est reine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82696" y="285292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</a:rPr>
              <a:t>grade, lat et sqft_living dominent l'importance des variables — l'emplacement reste le facteur N°1, même pour les algorithmes ML.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1691640"/>
            <a:ext cx="2697480" cy="2468880"/>
          </a:xfrm>
          <a:prstGeom prst="rect">
            <a:avLst/>
          </a:prstGeom>
          <a:solidFill>
            <a:srgbClr val="0D2137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13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81344" y="2395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Les données = fondement du modèle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852928"/>
            <a:ext cx="2468880" cy="123444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A9CCE3"/>
                </a:solidFill>
              </a:rPr>
              <a:t>Comme le souligne SOUALIH (2022), la qualité et la quantité de données conditionnent directement la fiabilité des AVM (</a:t>
            </a:r>
            <a:r>
              <a:rPr lang="fr-FR" sz="1050" dirty="0" err="1">
                <a:solidFill>
                  <a:schemeClr val="bg1"/>
                </a:solidFill>
              </a:rPr>
              <a:t>Automated</a:t>
            </a:r>
            <a:r>
              <a:rPr lang="fr-FR" sz="1050" dirty="0">
                <a:solidFill>
                  <a:schemeClr val="bg1"/>
                </a:solidFill>
              </a:rPr>
              <a:t> Valuation Model)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6D7E"/>
                </a:solidFill>
              </a:rPr>
              <a:t>Perspectives : GridSearchCV pour optimiser le MLP · Ajouter données géospatiales · Tester XGBoost · Déployer une API de prédiction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</a:rPr>
              <a:t>Merci pour votre attention  •  Questions ?  •  Basé sur SOUALIH Y. (2022) African Scientific Journal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887</Words>
  <Application>Microsoft Office PowerPoint</Application>
  <PresentationFormat>On-screen Show (16:9)</PresentationFormat>
  <Paragraphs>195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for Real Estate Valuation</dc:title>
  <dc:subject>PptxGenJS Presentation</dc:subject>
  <dc:creator>PptxGenJS</dc:creator>
  <cp:lastModifiedBy>eyaboughanmi85@gmail.com</cp:lastModifiedBy>
  <cp:revision>2</cp:revision>
  <dcterms:created xsi:type="dcterms:W3CDTF">2026-04-25T08:42:19Z</dcterms:created>
  <dcterms:modified xsi:type="dcterms:W3CDTF">2026-04-25T10:40:41Z</dcterms:modified>
</cp:coreProperties>
</file>